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0290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nlovc.com/perspective/2025-the-state-of-consumer-ai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hhs.gov/surgeongeneral/reports-and-publications/parents/index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appikid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hhs.gov/surgeongeneral/reports-and-publications/parents/index.html" TargetMode="External"/><Relationship Id="rId4" Type="http://schemas.openxmlformats.org/officeDocument/2006/relationships/hyperlink" Target="https://menlovc.com/perspective/2025-the-state-of-consumer-ai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hs.gov/surgeongeneral/reports-and-publications/parents/index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news.crunchbase.com/health-wellness-biotech/famtech-funding-child-care-american-dream/" TargetMode="External"/><Relationship Id="rId4" Type="http://schemas.openxmlformats.org/officeDocument/2006/relationships/hyperlink" Target="https://menlovc.com/perspective/2025-the-state-of-consumer-ai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enlovc.com/perspective/2025-the-state-of-consumer-ai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1280160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059168" y="1280160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43216" y="1280160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27264" y="1280160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11312" y="1280160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75120" y="1664208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59168" y="1664208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43216" y="1664208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27264" y="1664208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11312" y="1664208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675120" y="2048256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59168" y="2048256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43216" y="2048256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27264" y="2048256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11312" y="2048256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75120" y="2432304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59168" y="2432304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43216" y="2432304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27264" y="2432304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11312" y="2432304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675120" y="2816352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59168" y="2816352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43216" y="2816352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827264" y="2816352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11312" y="2816352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57200" y="19202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HappiKid</a:t>
            </a:r>
            <a:endParaRPr lang="en-US" sz="6400" dirty="0"/>
          </a:p>
        </p:txBody>
      </p:sp>
      <p:sp>
        <p:nvSpPr>
          <p:cNvPr id="30" name="Text 28"/>
          <p:cNvSpPr/>
          <p:nvPr/>
        </p:nvSpPr>
        <p:spPr>
          <a:xfrm>
            <a:off x="457200" y="29260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trusted discovery and enrollment layer for modern families.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8229600" cy="0"/>
          </a:xfrm>
          <a:prstGeom prst="line">
            <a:avLst/>
          </a:prstGeom>
          <a:noFill/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Investor Pitch Deck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Parents. HappiKid.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HappiKid  ·  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childcare and enrichment is fragmented, manual, and high-stakes.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parent workflow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114800" cy="2606040"/>
          </a:xfrm>
          <a:prstGeom prst="roundRect">
            <a:avLst>
              <a:gd name="adj" fmla="val 2807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EFEAE0"/>
          </a:solidFill>
          <a:ln w="508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tabs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74520" y="1965960"/>
            <a:ext cx="1325880" cy="384048"/>
          </a:xfrm>
          <a:prstGeom prst="roundRect">
            <a:avLst>
              <a:gd name="adj" fmla="val 11905"/>
            </a:avLst>
          </a:prstGeom>
          <a:solidFill>
            <a:srgbClr val="F7F4EE"/>
          </a:solidFill>
          <a:ln w="508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74520" y="19659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groups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96596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F7F4EE"/>
          </a:solidFill>
          <a:ln w="508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9659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flyers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42316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7F4EE"/>
          </a:solidFill>
          <a:ln w="508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423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20240" y="242316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EFEAE0"/>
          </a:solidFill>
          <a:ln w="508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20240" y="2423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threads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242316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F7F4EE"/>
          </a:solidFill>
          <a:ln w="508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2423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sites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288036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F7F4EE"/>
          </a:solidFill>
          <a:ln w="508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28803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74520" y="2880360"/>
            <a:ext cx="1325880" cy="384048"/>
          </a:xfrm>
          <a:prstGeom prst="roundRect">
            <a:avLst>
              <a:gd name="adj" fmla="val 11905"/>
            </a:avLst>
          </a:prstGeom>
          <a:solidFill>
            <a:srgbClr val="F7F4EE"/>
          </a:solidFill>
          <a:ln w="508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874520" y="28803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holds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288036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EFEAE0"/>
          </a:solidFill>
          <a:ln w="508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0" y="28803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sites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333756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F7F4EE"/>
          </a:solidFill>
          <a:ln w="508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337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forms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0" y="333756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7F4EE"/>
          </a:solidFill>
          <a:ln w="508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011680" y="33375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emails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333756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F7F4EE"/>
          </a:solidFill>
          <a:ln w="508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91840" y="33375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groups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3886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13+ hours of research, often with under three weeks to decide.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rot="16200000">
            <a:off x="4645152" y="2971800"/>
            <a:ext cx="274320" cy="320040"/>
          </a:xfrm>
          <a:prstGeom prst="rtTriangl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structural pains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0" y="18288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66360" y="19019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66360" y="2075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search everywhere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6636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social groups, review sites, spreadsheets, and DIY tracking break the decision process.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0" y="269748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66360" y="2770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66360" y="2944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pressure is real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6636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70% of families have three weeks or less to decide; deadlines collide with daily life.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9200" y="356616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166360" y="3639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66360" y="38130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safety matter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166360" y="4069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licensing, pricing, availability, and enrollment are rarely visible in one place.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HappiKid  ·  3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marketplace, powered by structured program data.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EXPERIENCE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847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compare, inquire, book.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11880" y="188366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18836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search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92040" y="188366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8836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licensing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88366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18836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52360" y="188366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52360" y="18836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&amp; booking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D6E7E2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6974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A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GROWTH 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2898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leads, messaging, analytics.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11880" y="293522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11880" y="29352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profile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92040" y="293522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29352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dashboard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72200" y="293522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72200" y="29352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+ messaging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452360" y="293522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52360" y="29352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payments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3749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F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INVENTORY LAYER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39502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program data: age, schedule, availability, pricing, licensing, enrollment.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224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parent search today and AI-native discovery surfaces over time.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2514600"/>
            <a:ext cx="0" cy="91440"/>
          </a:xfrm>
          <a:prstGeom prst="line">
            <a:avLst/>
          </a:prstGeom>
          <a:noFill/>
          <a:ln w="1270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0" y="3566160"/>
            <a:ext cx="0" cy="91440"/>
          </a:xfrm>
          <a:prstGeom prst="line">
            <a:avLst/>
          </a:prstGeom>
          <a:noFill/>
          <a:ln w="1270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marketplace built on a structured, AI-ready data layer.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WHY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HappiKid  ·  4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FamTech is becoming a software category for overloaded families.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18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801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expect guided planning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is moving from static directories into guided flows that capture each child’s age, interests, and family constraints.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618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92040" y="1801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budgets are stretched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92040" y="21671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 inflation lifts demand for transparent pricing, comparison, and faster decisions across licensed programs.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218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34015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shifts discovery from search to answers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37673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engines translate messy provider data and family preferences into bookable, structured options.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54680" y="3749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743200" y="4187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parents have used AI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310896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3218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92040" y="34015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need machine-readable data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892040" y="37673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Discoverability now depends on clean, standardized program data that AI surfaces can consume.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06640" y="3749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995160" y="4187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parents use AI for childcare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Consumer AI study  ·  Parent wellbeing advisory</a:t>
            </a:r>
            <a:endParaRPr lang="en-US" sz="800" dirty="0"/>
          </a:p>
        </p:txBody>
      </p:sp>
      <p:sp>
        <p:nvSpPr>
          <p:cNvPr id="27" name="Shape 25">
            <a:hlinkClick r:id="rId3" tooltip="Consumer AI study"/>
          </p:cNvPr>
          <p:cNvSpPr/>
          <p:nvPr/>
        </p:nvSpPr>
        <p:spPr>
          <a:xfrm>
            <a:off x="771754" y="4846320"/>
            <a:ext cx="705002" cy="201168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hlinkClick r:id="rId4" tooltip="Parent wellbeing advisory"/>
          </p:cNvPr>
          <p:cNvSpPr/>
          <p:nvPr/>
        </p:nvSpPr>
        <p:spPr>
          <a:xfrm>
            <a:off x="1636776" y="4846320"/>
            <a:ext cx="1019556" cy="201168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HappiKid  ·  5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essential, recurring spend.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NYC Tri-State beachhead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91440" cy="914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 from dual-income families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91440" cy="914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weekly usage and habit formation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90088"/>
            <a:ext cx="91440" cy="914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880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regulatory complexity than daycare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93008"/>
            <a:ext cx="91440" cy="914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onboarding and stronger willingness to pay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937760" y="150876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16276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CATEGORY SPEND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20640" y="1874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$200B+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512064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Childcare, after-school, camps, youth sports, private schools.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97180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0" y="30906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F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BEACHHEAD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206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$3B – $5B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512064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Tri-State after-school and K-5 enrichment spend.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BUSINESS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HappiKid  ·  6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Provider-led monetization, layered over time.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993392" cy="2423160"/>
          </a:xfrm>
          <a:prstGeom prst="roundRect">
            <a:avLst>
              <a:gd name="adj" fmla="val 3670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– $60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qualified parent inquiry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23744" y="1508760"/>
            <a:ext cx="1993392" cy="2423160"/>
          </a:xfrm>
          <a:prstGeom prst="roundRect">
            <a:avLst>
              <a:gd name="adj" fmla="val 3670"/>
            </a:avLst>
          </a:prstGeom>
          <a:solidFill>
            <a:srgbClr val="EFEAE0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06624" y="1691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06624" y="196596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subscriptions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706624" y="2834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 – $299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06624" y="33832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Growth OS tools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90288" y="1508760"/>
            <a:ext cx="1993392" cy="2423160"/>
          </a:xfrm>
          <a:prstGeom prst="roundRect">
            <a:avLst>
              <a:gd name="adj" fmla="val 3670"/>
            </a:avLst>
          </a:prstGeom>
          <a:solidFill>
            <a:srgbClr val="D6E7E2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73168" y="1691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73168" y="196596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transaction fees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73168" y="2834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8%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73168" y="33832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bookings processed in-platform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56832" y="1508760"/>
            <a:ext cx="1993392" cy="2423160"/>
          </a:xfrm>
          <a:prstGeom prst="roundRect">
            <a:avLst>
              <a:gd name="adj" fmla="val 3670"/>
            </a:avLst>
          </a:prstGeom>
          <a:solidFill>
            <a:srgbClr val="0F4C5C"/>
          </a:solidFill>
          <a:ln w="635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39712" y="1691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F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39712" y="196596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+ selective ads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839712" y="2834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3+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39712" y="33832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software, ads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096512"/>
            <a:ext cx="8229600" cy="0"/>
          </a:xfrm>
          <a:prstGeom prst="line">
            <a:avLst/>
          </a:prstGeom>
          <a:noFill/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142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LOCAL LIQUIDITY GROWS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parent experience stays free. Revenue deepens from leads to recurring software and transactions.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GO TO 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HappiKid  ·  7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before breadth.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density first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outreach, Founding Provider program, free beta participation, and hyper-local focus in Hoboken, Jersey City, Brooklyn, and the Upper West Side.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5087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16002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56616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activation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926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Provider-led distribution, local parenting communities, partnerships, SEO, and referrals drive high-intent demand.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15087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649224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replication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926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from NYC Tri-State into Boston, Philadelphia, and Washington, DC before larger national metros.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NEIGHBORHOODS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370832"/>
            <a:ext cx="146304" cy="14630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Hoboken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0" y="4370832"/>
            <a:ext cx="146304" cy="14630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0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Jersey City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4370832"/>
            <a:ext cx="146304" cy="14630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83280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4370832"/>
            <a:ext cx="146304" cy="14630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West Side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4370832"/>
            <a:ext cx="146304" cy="14630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0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Slope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0" y="4370832"/>
            <a:ext cx="146304" cy="14630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98080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Tribeca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TRACTION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HappiKid  ·  8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proof points already in place.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F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PROOF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live: </a:t>
            </a:r>
            <a:r>
              <a:rPr lang="en-US" sz="28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HappiKid.com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Discovery-to-enrollment workflow with structured, AI-ready inventory: standardized age, schedule, availability, pricing, licensing, and enrollment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7F4EE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3547872"/>
            <a:ext cx="3383280" cy="274320"/>
          </a:xfrm>
          <a:prstGeom prst="roundRect">
            <a:avLst>
              <a:gd name="adj" fmla="val 13333"/>
            </a:avLst>
          </a:prstGeom>
          <a:solidFill>
            <a:srgbClr val="EFEAE0"/>
          </a:solidFill>
          <a:ln w="508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after-school art for my 7-year-old in Hoboken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3886200"/>
            <a:ext cx="18288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496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Lincoln Park Arts · K-5 · Tue/Thu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4105656"/>
            <a:ext cx="18288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40690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Brookside Studios · K-3 · Mon/Wed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150876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618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PIPELINE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46320" y="1801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pipeline forming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4632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onboarding pipeline and early interest from NYC-area licensed programs validate the launch thesis.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51460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2624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VALIDATION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0" y="2807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pain validated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8463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interviews confirm pain across fragmented search, trust gaps, pricing opacity, and manual enrollment.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52044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630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MILESTONES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0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goals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4632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providers onboarded · 50,000+ parent users · $3M – $5M ARR trajectory.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Consumer AI study  ·  Parent wellbeing advisory</a:t>
            </a:r>
            <a:endParaRPr lang="en-US" sz="800" dirty="0"/>
          </a:p>
        </p:txBody>
      </p:sp>
      <p:sp>
        <p:nvSpPr>
          <p:cNvPr id="30" name="Shape 28">
            <a:hlinkClick r:id="rId4" tooltip="Consumer AI study"/>
          </p:cNvPr>
          <p:cNvSpPr/>
          <p:nvPr/>
        </p:nvSpPr>
        <p:spPr>
          <a:xfrm>
            <a:off x="771754" y="4846320"/>
            <a:ext cx="705002" cy="201168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hlinkClick r:id="rId5" tooltip="Parent wellbeing advisory"/>
          </p:cNvPr>
          <p:cNvSpPr/>
          <p:nvPr/>
        </p:nvSpPr>
        <p:spPr>
          <a:xfrm>
            <a:off x="1636776" y="4846320"/>
            <a:ext cx="1019556" cy="201168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COMPETITION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HappiKid  ·  9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combines verified trust, structured comparison, and full enrollment workflow.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1463040"/>
            <a:ext cx="4572000" cy="2926080"/>
          </a:xfrm>
          <a:prstGeom prst="rect">
            <a:avLst/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8720" y="2926080"/>
            <a:ext cx="4572000" cy="0"/>
          </a:xfrm>
          <a:prstGeom prst="line">
            <a:avLst/>
          </a:prstGeom>
          <a:noFill/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0" cy="2926080"/>
          </a:xfrm>
          <a:prstGeom prst="line">
            <a:avLst/>
          </a:prstGeom>
          <a:noFill/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" y="14173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Trust-first data ↑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" y="420624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listings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4434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Search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0" y="4434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platform →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3478378"/>
            <a:ext cx="182880" cy="182880"/>
          </a:xfrm>
          <a:prstGeom prst="ellipse">
            <a:avLst/>
          </a:prstGeom>
          <a:solidFill>
            <a:srgbClr val="5B6573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12848" y="346009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review sites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03120" y="2190902"/>
            <a:ext cx="182880" cy="182880"/>
          </a:xfrm>
          <a:prstGeom prst="ellipse">
            <a:avLst/>
          </a:prstGeom>
          <a:solidFill>
            <a:srgbClr val="5B6573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95728" y="217261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directories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11880" y="2980944"/>
            <a:ext cx="182880" cy="182880"/>
          </a:xfrm>
          <a:prstGeom prst="ellipse">
            <a:avLst/>
          </a:prstGeom>
          <a:solidFill>
            <a:srgbClr val="5B6573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86200" y="296265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marketplaces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31920" y="3712464"/>
            <a:ext cx="182880" cy="182880"/>
          </a:xfrm>
          <a:prstGeom prst="ellipse">
            <a:avLst/>
          </a:prstGeom>
          <a:solidFill>
            <a:srgbClr val="5B6573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0" y="36941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sitter apps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0016" y="1843430"/>
            <a:ext cx="292608" cy="29260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063240" y="188000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HappiKid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80760" y="1463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HAPPIKID EDGE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0760" y="1783080"/>
            <a:ext cx="91440" cy="914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0936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institutional provider focus, not individual caregivers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0760" y="2286000"/>
            <a:ext cx="91440" cy="914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2194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licensing and safety signals as a trust-first data layer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2788920"/>
            <a:ext cx="91440" cy="914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09360" y="2697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Standardized, AI-ready program inventory across the catalog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3291840"/>
            <a:ext cx="91440" cy="914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09360" y="3200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discovery to enrollment in one trusted place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80760" y="3794760"/>
            <a:ext cx="91440" cy="914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09360" y="3703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Metro-density playbook plus a Provider Growth OS for SMB programs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Parent wellbeing advisory  ·  Consumer AI study  ·  FamTech category note</a:t>
            </a:r>
            <a:endParaRPr lang="en-US" sz="800" dirty="0"/>
          </a:p>
        </p:txBody>
      </p:sp>
      <p:sp>
        <p:nvSpPr>
          <p:cNvPr id="35" name="Shape 33">
            <a:hlinkClick r:id="rId3" tooltip="Parent wellbeing advisory"/>
          </p:cNvPr>
          <p:cNvSpPr/>
          <p:nvPr/>
        </p:nvSpPr>
        <p:spPr>
          <a:xfrm>
            <a:off x="771754" y="4846320"/>
            <a:ext cx="1019556" cy="201168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hlinkClick r:id="rId4" tooltip="Consumer AI study"/>
          </p:cNvPr>
          <p:cNvSpPr/>
          <p:nvPr/>
        </p:nvSpPr>
        <p:spPr>
          <a:xfrm>
            <a:off x="1951330" y="4846320"/>
            <a:ext cx="705002" cy="201168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hlinkClick r:id="rId5" tooltip="FamTech category note"/>
          </p:cNvPr>
          <p:cNvSpPr/>
          <p:nvPr/>
        </p:nvSpPr>
        <p:spPr>
          <a:xfrm>
            <a:off x="2816352" y="4846320"/>
            <a:ext cx="862279" cy="201168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FINANCIALS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HappiKid  ·  10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 marketplace model, breakeven in Year 3.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706624" cy="1371600"/>
          </a:xfrm>
          <a:prstGeom prst="roundRect">
            <a:avLst>
              <a:gd name="adj" fmla="val 5333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Y1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8379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$1.08M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441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provider-led monetization.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5264" y="1508760"/>
            <a:ext cx="2706624" cy="1371600"/>
          </a:xfrm>
          <a:prstGeom prst="roundRect">
            <a:avLst>
              <a:gd name="adj" fmla="val 5333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38144" y="16276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Y3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38144" y="18379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$15.42M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38144" y="2441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Subscriptions, transactions, ads layering in.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53328" y="1508760"/>
            <a:ext cx="2706624" cy="1371600"/>
          </a:xfrm>
          <a:prstGeom prst="roundRect">
            <a:avLst>
              <a:gd name="adj" fmla="val 5333"/>
            </a:avLst>
          </a:prstGeom>
          <a:solidFill>
            <a:srgbClr val="0F4C5C"/>
          </a:solidFill>
          <a:ln w="635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36208" y="16276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F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Y5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36208" y="18379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$95.52M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36208" y="2441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at scale across multiple metros.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NET INCOME ($M)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78040" y="3246120"/>
            <a:ext cx="1508760" cy="292608"/>
          </a:xfrm>
          <a:prstGeom prst="roundRect">
            <a:avLst>
              <a:gd name="adj" fmla="val 12500"/>
            </a:avLst>
          </a:prstGeom>
          <a:solidFill>
            <a:srgbClr val="D6E7E2"/>
          </a:solidFill>
          <a:ln w="12700">
            <a:solidFill>
              <a:srgbClr val="D6E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78040" y="32461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in Year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78040" y="36118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 turns positive on subscription and transaction revenue.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6583680" cy="0"/>
          </a:xfrm>
          <a:prstGeom prst="line">
            <a:avLst/>
          </a:prstGeom>
          <a:noFill/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06780" y="4251960"/>
            <a:ext cx="777240" cy="186538"/>
          </a:xfrm>
          <a:prstGeom prst="rect">
            <a:avLst/>
          </a:prstGeom>
          <a:solidFill>
            <a:srgbClr val="8C95A1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3900" y="445678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$-2.04M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33600" y="4251960"/>
            <a:ext cx="777240" cy="222199"/>
          </a:xfrm>
          <a:prstGeom prst="rect">
            <a:avLst/>
          </a:prstGeom>
          <a:solidFill>
            <a:srgbClr val="8C95A1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950720" y="4492447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$-2.43M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60420" y="4243340"/>
            <a:ext cx="777240" cy="36576"/>
          </a:xfrm>
          <a:prstGeom prst="rect">
            <a:avLst/>
          </a:prstGeom>
          <a:solidFill>
            <a:srgbClr val="B58A2A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177540" y="40238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+$0.61M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87240" y="4076445"/>
            <a:ext cx="777240" cy="175515"/>
          </a:xfrm>
          <a:prstGeom prst="rect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04360" y="3856989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+$12.42M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14060" y="3517539"/>
            <a:ext cx="777240" cy="734421"/>
          </a:xfrm>
          <a:prstGeom prst="rect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31180" y="3298083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+$51.97M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9620" y="4727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996440" y="4727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23260" y="4727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50080" y="4727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76900" y="4727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USE OF FUNDS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HappiKid  ·  11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funds the team, supply buildout, and market launch.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291840" cy="502920"/>
          </a:xfrm>
          <a:prstGeom prst="rect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749040" y="1600200"/>
            <a:ext cx="2468880" cy="502920"/>
          </a:xfrm>
          <a:prstGeom prst="rect">
            <a:avLst/>
          </a:prstGeom>
          <a:solidFill>
            <a:srgbClr val="1F7A8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1645920" cy="502920"/>
          </a:xfrm>
          <a:prstGeom prst="rect">
            <a:avLst/>
          </a:prstGeom>
          <a:solidFill>
            <a:srgbClr val="D6E7E2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63840" y="1600200"/>
            <a:ext cx="822960" cy="502920"/>
          </a:xfrm>
          <a:prstGeom prst="rect">
            <a:avLst/>
          </a:prstGeom>
          <a:solidFill>
            <a:srgbClr val="EFEAE0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0" y="2148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67919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2606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product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417320" y="284378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marketplace, AI search, provider tools, structured inventory pipeline.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17320" y="311810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Unlocks: MVP scale, AI-ready data layer.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267919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0" y="2606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acquisition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0" y="284378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Provider outreach, onboarding, supply density across launch metros.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311810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Unlocks: 500+ providers onboarded.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68503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17320" y="361188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marketing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417320" y="384962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activation in launch neighborhoods through local partners and SEO.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17320" y="412394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Unlocks: 50,000+ parent users.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352044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368503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669280" y="361188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G&amp;A, legal, compliance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69280" y="384962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legal review, insurance, admin to support trust-first positioning.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412394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Unlocks: Verified-trust rails.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runway: 18 to 24 months. Enough to launch NYC Tri-State, prove liquidity, and establish unit economics.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WHY THIS WINS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HappiKid  ·  12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trusted operating system for childcare discovery, decision, and enrollment.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PROOF PILLARS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733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645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Essential, recurring family spend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9385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$200B+ category with FamTech tailwinds.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5420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514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Trust-first platform for licensed programs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807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licensing and safety, not generic local search or sitter apps.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4107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383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data layer that compounds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675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activity creates structured inventory for organized care and enrichment.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12801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FLYWHEEL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23560" y="1965960"/>
            <a:ext cx="2286000" cy="2286000"/>
          </a:xfrm>
          <a:prstGeom prst="ellipse">
            <a:avLst/>
          </a:prstGeom>
          <a:solidFill>
            <a:srgbClr val="FBF9F4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2651760"/>
            <a:ext cx="914400" cy="9144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2862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HappiKid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30906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72200" y="176022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7F4EE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72200" y="17602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69480" y="285750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7F4EE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69480" y="28575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demand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395478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7F4EE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72200" y="39547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74920" y="285750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7F4EE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74920" y="28575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45189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ROI rises, attracting more inventory.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251960"/>
            <a:ext cx="4023360" cy="292608"/>
          </a:xfrm>
          <a:prstGeom prst="rect">
            <a:avLst/>
          </a:prstGeom>
          <a:solidFill>
            <a:srgbClr val="EFEAE0"/>
          </a:solidFill>
          <a:ln w="1270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4251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raise: </a:t>
            </a: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</a:t>
            </a: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500+ providers · NYC launch · monetization proof.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Consumer AI study</a:t>
            </a:r>
            <a:endParaRPr lang="en-US" sz="800" dirty="0"/>
          </a:p>
        </p:txBody>
      </p:sp>
      <p:sp>
        <p:nvSpPr>
          <p:cNvPr id="36" name="Shape 34">
            <a:hlinkClick r:id="rId3" tooltip="Consumer AI study"/>
          </p:cNvPr>
          <p:cNvSpPr/>
          <p:nvPr/>
        </p:nvSpPr>
        <p:spPr>
          <a:xfrm>
            <a:off x="771754" y="4846320"/>
            <a:ext cx="705002" cy="201168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trusted discovery and enrollment layer for modern families.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297680"/>
            <a:ext cx="8229600" cy="0"/>
          </a:xfrm>
          <a:prstGeom prst="line">
            <a:avLst/>
          </a:prstGeom>
          <a:noFill/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HappiKid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deck  ·  May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75120" y="1280160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59168" y="1280160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43216" y="1280160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827264" y="1280160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11312" y="1280160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75120" y="1664208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59168" y="1664208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43216" y="1664208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827264" y="1664208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11312" y="1664208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75120" y="2048256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59168" y="2048256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43216" y="2048256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827264" y="2048256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11312" y="2048256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75120" y="2432304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59168" y="2432304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43216" y="2432304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827264" y="2432304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11312" y="2432304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75120" y="2816352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59168" y="2816352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43216" y="2816352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827264" y="2816352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11312" y="2816352"/>
            <a:ext cx="109728" cy="109728"/>
          </a:xfrm>
          <a:prstGeom prst="ellipse">
            <a:avLst/>
          </a:prstGeom>
          <a:solidFill>
            <a:srgbClr val="D9D3C5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1283</Words>
  <Application>Microsoft Macintosh PowerPoint</Application>
  <PresentationFormat>On-screen Show (16:9)</PresentationFormat>
  <Paragraphs>253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HappiKid Seed Deck</dc:title>
  <dc:subject>PptxGenJS Presentation</dc:subject>
  <dc:creator>HappiKid</dc:creator>
  <cp:lastModifiedBy>Adam Krouse(UST,US)</cp:lastModifiedBy>
  <cp:revision>2</cp:revision>
  <dcterms:created xsi:type="dcterms:W3CDTF">2026-05-05T19:46:38Z</dcterms:created>
  <dcterms:modified xsi:type="dcterms:W3CDTF">2026-05-05T20:26:51Z</dcterms:modified>
</cp:coreProperties>
</file>